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724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g"/><Relationship Id="rId3" Type="http://schemas.openxmlformats.org/officeDocument/2006/relationships/image" Target="../media/image7.jpeg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jpg"/><Relationship Id="rId5" Type="http://schemas.openxmlformats.org/officeDocument/2006/relationships/image" Target="../media/image15.jpeg"/><Relationship Id="rId4" Type="http://schemas.openxmlformats.org/officeDocument/2006/relationships/image" Target="../media/image14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heroCover.jpg"/>
          <p:cNvPicPr>
            <a:picLocks noChangeAspect="1"/>
          </p:cNvPicPr>
          <p:nvPr/>
        </p:nvPicPr>
        <p:blipFill>
          <a:blip r:embed="rId3">
            <a:alphaModFix amt="50000"/>
          </a:blip>
          <a:srcRect t="21861" b="21861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631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INSTITUTE FOR CHRISTIAN STUDIES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31520" y="1005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5000"/>
              </a:lnSpc>
              <a:buNone/>
            </a:pPr>
            <a:r>
              <a:rPr lang="en-US" sz="5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Free</a:t>
            </a:r>
            <a:endParaRPr lang="en-US" sz="5400" dirty="0"/>
          </a:p>
          <a:p>
            <a:pPr marL="0" indent="0">
              <a:lnSpc>
                <a:spcPct val="85000"/>
              </a:lnSpc>
              <a:buNone/>
            </a:pPr>
            <a:r>
              <a:rPr lang="en-US" sz="5400" i="1" dirty="0">
                <a:solidFill>
                  <a:srgbClr val="D6DDE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 be</a:t>
            </a:r>
            <a:endParaRPr lang="en-US" sz="5400" dirty="0"/>
          </a:p>
          <a:p>
            <a:pPr marL="0" indent="0">
              <a:lnSpc>
                <a:spcPct val="85000"/>
              </a:lnSpc>
              <a:buNone/>
            </a:pPr>
            <a:r>
              <a:rPr lang="en-US" sz="5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Faithful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731520" y="3657600"/>
            <a:ext cx="548640" cy="36576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Equipping Christians for Democratic Life.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4297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2025 — 2026 SEASON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743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1371600" y="13716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6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 freedom Christ has set us free.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6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Stand firm, therefore, and do not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6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submit again to a yoke of slavery.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371600" y="3520440"/>
            <a:ext cx="457200" cy="32004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0" y="3703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GALATIANS 5 : 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groupPhoto.jpg"/>
          <p:cNvPicPr>
            <a:picLocks noChangeAspect="1"/>
          </p:cNvPicPr>
          <p:nvPr/>
        </p:nvPicPr>
        <p:blipFill>
          <a:blip r:embed="rId3"/>
          <a:srcRect l="23354" r="23354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0F2631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731520" y="640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OUR MISSION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31520" y="100584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Finding a</a:t>
            </a:r>
            <a:endParaRPr lang="en-US" sz="3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Better Way.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731520" y="2331720"/>
            <a:ext cx="457200" cy="32004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5603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3D4F5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Free to be Faithful is a program, a resource, and a community designed to help Christians meet our complex moment. Our courses, events, and community develop believers who are both faithfully Christian and deeply committed to the common good.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12064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“For freedom Christ has set us free.”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churchInterior.jpg"/>
          <p:cNvPicPr>
            <a:picLocks noChangeAspect="1"/>
          </p:cNvPicPr>
          <p:nvPr/>
        </p:nvPicPr>
        <p:blipFill>
          <a:blip r:embed="rId3">
            <a:alphaModFix amt="20000"/>
          </a:blip>
          <a:srcRect l="7205" r="7205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631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1097280" y="914400"/>
            <a:ext cx="6949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Rooted without becoming rigid.</a:t>
            </a:r>
            <a:endParaRPr lang="en-US" sz="2600" dirty="0"/>
          </a:p>
          <a:p>
            <a:pPr marL="0" indent="0" algn="ctr">
              <a:buNone/>
            </a:pPr>
            <a:endParaRPr lang="en-US" sz="2600" dirty="0"/>
          </a:p>
          <a:p>
            <a:pPr marL="0" indent="0" algn="ctr">
              <a:buNone/>
            </a:pPr>
            <a:r>
              <a:rPr lang="en-US" sz="26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Bold without becoming belligerent.</a:t>
            </a:r>
            <a:endParaRPr lang="en-US" sz="2600" dirty="0"/>
          </a:p>
          <a:p>
            <a:pPr marL="0" indent="0" algn="ctr">
              <a:buNone/>
            </a:pPr>
            <a:endParaRPr lang="en-US" sz="2600" dirty="0"/>
          </a:p>
          <a:p>
            <a:pPr marL="0" indent="0" algn="ctr">
              <a:buNone/>
            </a:pPr>
            <a:r>
              <a:rPr lang="en-US" sz="2600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Faithful without becoming fearful.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840480" y="914400"/>
            <a:ext cx="1463040" cy="27432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840480" y="4160520"/>
            <a:ext cx="1463040" cy="27432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seminarDiscussion.jpg"/>
          <p:cNvPicPr>
            <a:picLocks noChangeAspect="1"/>
          </p:cNvPicPr>
          <p:nvPr/>
        </p:nvPicPr>
        <p:blipFill>
          <a:blip r:embed="rId3"/>
          <a:srcRect l="25020" r="25020"/>
          <a:stretch/>
        </p:blipFill>
        <p:spPr>
          <a:xfrm>
            <a:off x="5303520" y="457200"/>
            <a:ext cx="3383280" cy="422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WHAT WE OFFER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31520" y="10972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Program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D4F5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Six-week online seminars led by world-class scholars, with the option to earn ICS credit toward degree completion.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Courses to foster deeper understanding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Retreats and intensives for all walks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Pathways toward a Master of Worldview Studies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booksStudy.jpg"/>
          <p:cNvPicPr>
            <a:picLocks noChangeAspect="1"/>
          </p:cNvPicPr>
          <p:nvPr/>
        </p:nvPicPr>
        <p:blipFill>
          <a:blip r:embed="rId3"/>
          <a:srcRect l="7576" r="7576"/>
          <a:stretch/>
        </p:blipFill>
        <p:spPr>
          <a:xfrm>
            <a:off x="457200" y="457200"/>
            <a:ext cx="3383280" cy="422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0624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3891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WHAT WE OFFER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389120" y="10972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Resource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389120" y="18288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D4F5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Curated texts, essays, and dialogues on the issues facing Christians today — gathered, framed, and made shareable.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389120" y="28346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Curated texts to dive deeper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Shared expertise from scholars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Enriching dialogues to relive or discover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communityGathering.jpg"/>
          <p:cNvPicPr>
            <a:picLocks noChangeAspect="1"/>
          </p:cNvPicPr>
          <p:nvPr/>
        </p:nvPicPr>
        <p:blipFill>
          <a:blip r:embed="rId3"/>
          <a:srcRect l="23340" r="23340"/>
          <a:stretch/>
        </p:blipFill>
        <p:spPr>
          <a:xfrm>
            <a:off x="5303520" y="457200"/>
            <a:ext cx="3383280" cy="422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WHAT WE OFFER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31520" y="10972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Community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D4F5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 events, coalitions, and conversations with welcoming people from every Christian tradition.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 events to strengthen coalitions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Timely writing to challenge and inform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5516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Welcoming people from every tradition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-27432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0" b="1" dirty="0">
                <a:solidFill>
                  <a:srgbClr val="C83C2C">
                    <a:alpha val="1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2025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YEAR OF FREE TO BE FAITHFUL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Where we’ve been</a:t>
            </a:r>
            <a:endParaRPr lang="en-US" sz="3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600" i="1" dirty="0">
                <a:solidFill>
                  <a:srgbClr val="D6DDE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— since May 2025.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Courses, events, and community — a full season of faithful engagement.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365760"/>
            <a:ext cx="22860" cy="4389120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" y="484632"/>
            <a:ext cx="201168" cy="20116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371600" y="393192"/>
            <a:ext cx="6858000" cy="502920"/>
          </a:xfrm>
          <a:prstGeom prst="rect">
            <a:avLst/>
          </a:prstGeom>
          <a:solidFill>
            <a:srgbClr val="C83C2C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0" y="3931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0EBE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MAY 2025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1371600" y="5577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Free to be Faithful Launch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0" y="557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Grand Rapids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0120" y="1014984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9235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MAY 2025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71600" y="10881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Faithful Interpretation &amp; Sexuality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669280" y="10881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Keesmaat &amp; Vander Zee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1545336"/>
            <a:ext cx="201168" cy="20116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371600" y="14538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JUL 2025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371600" y="16184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Summer Big Read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0" y="16184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Berglund with Du Mez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" y="2075688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371600" y="19842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SEP 2025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371600" y="2148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Gender, Sexuality, and the Bible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0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Sylvia Keesmaat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0120" y="2606040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371600" y="2514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SEP 2025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371600" y="26791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Twentieth Century Authoritarianism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0" y="26791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Bruce Berglund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3136392"/>
            <a:ext cx="201168" cy="20116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71600" y="3044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SEP 2025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371600" y="320954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Fall Big Read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0" y="32095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Reichel &amp; Du Mez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60120" y="3666744"/>
            <a:ext cx="201168" cy="20116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371600" y="3575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OCT 2025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371600" y="37398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Reechanting the World Conference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60120" y="4197096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371600" y="41056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OCT 2025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371600" y="42702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Good, the True, the Beautiful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0" y="42702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Karen Swallow Prior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109728" cy="10972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14400" y="47091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Course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828800" y="4754880"/>
            <a:ext cx="109728" cy="10972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011680" y="47091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Event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0" y="-27432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0" b="1" dirty="0">
                <a:solidFill>
                  <a:srgbClr val="C83C2C">
                    <a:alpha val="1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2026</a:t>
            </a:r>
            <a:endParaRPr lang="en-US" sz="14000" dirty="0"/>
          </a:p>
        </p:txBody>
      </p:sp>
      <p:sp>
        <p:nvSpPr>
          <p:cNvPr id="3" name="Shape 1"/>
          <p:cNvSpPr/>
          <p:nvPr/>
        </p:nvSpPr>
        <p:spPr>
          <a:xfrm>
            <a:off x="1051560" y="548640"/>
            <a:ext cx="22860" cy="3657600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AND WHERE WE’RE GOING.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960120" y="731520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71600" y="640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JAN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371600" y="841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Reading the Ruins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0" y="8412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Angela Reitsma Bick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463040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1371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 2026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37160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Christian-Jewish Question Today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15727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Matthew D. Taylor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2194560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2103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 2026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371600" y="23042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Evangelical Imagination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3042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Karen Swallow Prior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60120" y="2926080"/>
            <a:ext cx="201168" cy="20116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371600" y="2816352"/>
            <a:ext cx="6858000" cy="640080"/>
          </a:xfrm>
          <a:prstGeom prst="rect">
            <a:avLst/>
          </a:prstGeom>
          <a:solidFill>
            <a:srgbClr val="C83C2C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7160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0EBE3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MAY 2026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Courageous Faith in a Time of Fear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43600" y="30358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Toronto · Public Conference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0120" y="3657600"/>
            <a:ext cx="201168" cy="20116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71600" y="3566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JUN 2026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371600" y="3767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Contemplative Life in the Age of Distraction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0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Jacob Benjamins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4754880"/>
            <a:ext cx="109728" cy="109728"/>
          </a:xfrm>
          <a:prstGeom prst="ellipse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14400" y="47091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Course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828800" y="4754880"/>
            <a:ext cx="109728" cy="109728"/>
          </a:xfrm>
          <a:prstGeom prst="ellipse">
            <a:avLst/>
          </a:prstGeom>
          <a:solidFill>
            <a:srgbClr val="F0EB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011680" y="47091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Event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VOICES OF THE YEAR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people shaping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</a:t>
            </a:r>
            <a:r>
              <a:rPr lang="en-US" sz="2600" b="1" i="1" dirty="0">
                <a:solidFill>
                  <a:srgbClr val="25516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conversation.</a:t>
            </a:r>
            <a:endParaRPr lang="en-US" sz="2600" dirty="0"/>
          </a:p>
        </p:txBody>
      </p:sp>
      <p:pic>
        <p:nvPicPr>
          <p:cNvPr id="4" name="Image 0" descr="C:\Users\fresh\Documents\GitHub\f2bf\_img_cache\keesmaat.jpeg"/>
          <p:cNvPicPr>
            <a:picLocks noChangeAspect="1"/>
          </p:cNvPicPr>
          <p:nvPr/>
        </p:nvPicPr>
        <p:blipFill>
          <a:blip r:embed="rId3"/>
          <a:srcRect t="4633" b="4633"/>
          <a:stretch/>
        </p:blipFill>
        <p:spPr>
          <a:xfrm>
            <a:off x="731520" y="1737360"/>
            <a:ext cx="777240" cy="777240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4088" y="1709928"/>
            <a:ext cx="832104" cy="832104"/>
          </a:xfrm>
          <a:prstGeom prst="ellipse">
            <a:avLst/>
          </a:prstGeom>
          <a:noFill/>
          <a:ln w="19050">
            <a:solidFill>
              <a:srgbClr val="C83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64592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Sylvia Keesmaat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64592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Scholar · Activist</a:t>
            </a:r>
            <a:endParaRPr lang="en-US" sz="1000" dirty="0"/>
          </a:p>
        </p:txBody>
      </p:sp>
      <p:pic>
        <p:nvPicPr>
          <p:cNvPr id="8" name="Image 1" descr="C:\Users\fresh\Documents\GitHub\f2bf\_img_cache\berglund.jpg"/>
          <p:cNvPicPr>
            <a:picLocks noChangeAspect="1"/>
          </p:cNvPicPr>
          <p:nvPr/>
        </p:nvPicPr>
        <p:blipFill>
          <a:blip r:embed="rId4"/>
          <a:srcRect t="11890" b="11890"/>
          <a:stretch/>
        </p:blipFill>
        <p:spPr>
          <a:xfrm>
            <a:off x="3474720" y="1737360"/>
            <a:ext cx="777240" cy="777240"/>
          </a:xfrm>
          <a:prstGeom prst="ellipse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447288" y="1709928"/>
            <a:ext cx="832104" cy="832104"/>
          </a:xfrm>
          <a:prstGeom prst="ellipse">
            <a:avLst/>
          </a:prstGeom>
          <a:noFill/>
          <a:ln w="19050">
            <a:solidFill>
              <a:srgbClr val="C83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38912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Bruce Berglund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38912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Author · Historian</a:t>
            </a:r>
            <a:endParaRPr lang="en-US" sz="1000" dirty="0"/>
          </a:p>
        </p:txBody>
      </p:sp>
      <p:pic>
        <p:nvPicPr>
          <p:cNvPr id="12" name="Image 2" descr="C:\Users\fresh\Documents\GitHub\f2bf\_img_cache\prior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17920" y="1737360"/>
            <a:ext cx="777240" cy="777240"/>
          </a:xfrm>
          <a:prstGeom prst="ellipse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190488" y="1709928"/>
            <a:ext cx="832104" cy="832104"/>
          </a:xfrm>
          <a:prstGeom prst="ellipse">
            <a:avLst/>
          </a:prstGeom>
          <a:noFill/>
          <a:ln w="19050">
            <a:solidFill>
              <a:srgbClr val="C83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713232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Karen Swallow Prior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713232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Author · Bethel Seminary</a:t>
            </a:r>
            <a:endParaRPr lang="en-US" sz="1000" dirty="0"/>
          </a:p>
        </p:txBody>
      </p:sp>
      <p:pic>
        <p:nvPicPr>
          <p:cNvPr id="16" name="Image 3" descr="C:\Users\fresh\Documents\GitHub\f2bf\_img_cache\reichel.jpg"/>
          <p:cNvPicPr>
            <a:picLocks noChangeAspect="1"/>
          </p:cNvPicPr>
          <p:nvPr/>
        </p:nvPicPr>
        <p:blipFill>
          <a:blip r:embed="rId6"/>
          <a:srcRect t="4545" b="4545"/>
          <a:stretch/>
        </p:blipFill>
        <p:spPr>
          <a:xfrm>
            <a:off x="731520" y="3291840"/>
            <a:ext cx="777240" cy="777240"/>
          </a:xfrm>
          <a:prstGeom prst="ellipse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04088" y="3264408"/>
            <a:ext cx="832104" cy="832104"/>
          </a:xfrm>
          <a:prstGeom prst="ellipse">
            <a:avLst/>
          </a:prstGeom>
          <a:noFill/>
          <a:ln w="19050">
            <a:solidFill>
              <a:srgbClr val="C83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164592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Hanna Reichel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64592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Theologian · Princeton</a:t>
            </a:r>
            <a:endParaRPr lang="en-US" sz="1000" dirty="0"/>
          </a:p>
        </p:txBody>
      </p:sp>
      <p:pic>
        <p:nvPicPr>
          <p:cNvPr id="20" name="Image 4" descr="C:\Users\fresh\Documents\GitHub\f2bf\_img_cache\duMez.jpg"/>
          <p:cNvPicPr>
            <a:picLocks noChangeAspect="1"/>
          </p:cNvPicPr>
          <p:nvPr/>
        </p:nvPicPr>
        <p:blipFill>
          <a:blip r:embed="rId7"/>
          <a:srcRect l="16650" r="16650"/>
          <a:stretch/>
        </p:blipFill>
        <p:spPr>
          <a:xfrm>
            <a:off x="3474720" y="3291840"/>
            <a:ext cx="777240" cy="777240"/>
          </a:xfrm>
          <a:prstGeom prst="ellipse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3447288" y="3264408"/>
            <a:ext cx="832104" cy="832104"/>
          </a:xfrm>
          <a:prstGeom prst="ellipse">
            <a:avLst/>
          </a:prstGeom>
          <a:noFill/>
          <a:ln w="19050">
            <a:solidFill>
              <a:srgbClr val="C83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438912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Kristin Kobes Du Mez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438912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Historian · Calvin Univ.</a:t>
            </a:r>
            <a:endParaRPr lang="en-US" sz="1000" dirty="0"/>
          </a:p>
        </p:txBody>
      </p:sp>
      <p:pic>
        <p:nvPicPr>
          <p:cNvPr id="24" name="Image 5" descr="C:\Users\fresh\Documents\GitHub\f2bf\_img_cache\reitsma.jpg"/>
          <p:cNvPicPr>
            <a:picLocks noChangeAspect="1"/>
          </p:cNvPicPr>
          <p:nvPr/>
        </p:nvPicPr>
        <p:blipFill>
          <a:blip r:embed="rId8"/>
          <a:srcRect l="16667" r="16667"/>
          <a:stretch/>
        </p:blipFill>
        <p:spPr>
          <a:xfrm>
            <a:off x="6217920" y="3291840"/>
            <a:ext cx="777240" cy="777240"/>
          </a:xfrm>
          <a:prstGeom prst="ellipse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90488" y="3264408"/>
            <a:ext cx="832104" cy="832104"/>
          </a:xfrm>
          <a:prstGeom prst="ellipse">
            <a:avLst/>
          </a:prstGeom>
          <a:noFill/>
          <a:ln w="19050">
            <a:solidFill>
              <a:srgbClr val="C83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/>
          <p:nvPr/>
        </p:nvSpPr>
        <p:spPr>
          <a:xfrm>
            <a:off x="7132320" y="3337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Angela Reitsma Bick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713232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Editor · Christian Courier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VOICES OF THE YEAR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E929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Scholars, writers, and pastoral voices guiding our courses and gatherings.</a:t>
            </a:r>
            <a:endParaRPr lang="en-US" sz="13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D1F3D7F-D896-31CC-5E19-252F0EA2E687}"/>
              </a:ext>
            </a:extLst>
          </p:cNvPr>
          <p:cNvGrpSpPr/>
          <p:nvPr/>
        </p:nvGrpSpPr>
        <p:grpSpPr>
          <a:xfrm>
            <a:off x="704088" y="1435608"/>
            <a:ext cx="2679192" cy="832104"/>
            <a:chOff x="3431468" y="1435608"/>
            <a:chExt cx="2679192" cy="832104"/>
          </a:xfrm>
        </p:grpSpPr>
        <p:pic>
          <p:nvPicPr>
            <p:cNvPr id="8" name="Image 1" descr="C:\Users\fresh\Documents\GitHub\f2bf\_img_cache\benjamins.jpg"/>
            <p:cNvPicPr>
              <a:picLocks noChangeAspect="1"/>
            </p:cNvPicPr>
            <p:nvPr/>
          </p:nvPicPr>
          <p:blipFill>
            <a:blip r:embed="rId3"/>
            <a:srcRect t="2882" b="2882"/>
            <a:stretch/>
          </p:blipFill>
          <p:spPr>
            <a:xfrm>
              <a:off x="3458900" y="1463040"/>
              <a:ext cx="777240" cy="777240"/>
            </a:xfrm>
            <a:prstGeom prst="ellipse">
              <a:avLst/>
            </a:prstGeom>
          </p:spPr>
        </p:pic>
        <p:sp>
          <p:nvSpPr>
            <p:cNvPr id="9" name="Shape 5"/>
            <p:cNvSpPr/>
            <p:nvPr/>
          </p:nvSpPr>
          <p:spPr>
            <a:xfrm>
              <a:off x="3431468" y="1435608"/>
              <a:ext cx="832104" cy="832104"/>
            </a:xfrm>
            <a:prstGeom prst="ellipse">
              <a:avLst/>
            </a:prstGeom>
            <a:noFill/>
            <a:ln w="19050">
              <a:solidFill>
                <a:srgbClr val="C83C2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6"/>
            <p:cNvSpPr/>
            <p:nvPr/>
          </p:nvSpPr>
          <p:spPr>
            <a:xfrm>
              <a:off x="4373300" y="1508760"/>
              <a:ext cx="17373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F2631"/>
                  </a:solidFill>
                  <a:latin typeface="Playfair Display" pitchFamily="34" charset="0"/>
                  <a:ea typeface="Playfair Display" pitchFamily="34" charset="-122"/>
                  <a:cs typeface="Playfair Display" pitchFamily="34" charset="-120"/>
                </a:rPr>
                <a:t>Jacob Benjamins</a:t>
              </a:r>
              <a:endParaRPr lang="en-US" sz="1200" dirty="0"/>
            </a:p>
          </p:txBody>
        </p:sp>
        <p:sp>
          <p:nvSpPr>
            <p:cNvPr id="11" name="Text 7"/>
            <p:cNvSpPr/>
            <p:nvPr/>
          </p:nvSpPr>
          <p:spPr>
            <a:xfrm>
              <a:off x="4373300" y="1874520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kern="0" spc="200" dirty="0">
                  <a:solidFill>
                    <a:srgbClr val="7E929E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Postdoctoral Fellow · ICS</a:t>
              </a:r>
              <a:endParaRPr lang="en-US" sz="8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7D0F111-FF7C-78AF-FEDB-532849DD1906}"/>
              </a:ext>
            </a:extLst>
          </p:cNvPr>
          <p:cNvGrpSpPr/>
          <p:nvPr/>
        </p:nvGrpSpPr>
        <p:grpSpPr>
          <a:xfrm>
            <a:off x="6174668" y="1435608"/>
            <a:ext cx="2679192" cy="832104"/>
            <a:chOff x="6174668" y="1435608"/>
            <a:chExt cx="2679192" cy="832104"/>
          </a:xfrm>
        </p:grpSpPr>
        <p:pic>
          <p:nvPicPr>
            <p:cNvPr id="12" name="Image 2" descr="C:\Users\fresh\Documents\GitHub\f2bf\_img_cache\kuipers.jpg"/>
            <p:cNvPicPr>
              <a:picLocks noChangeAspect="1"/>
            </p:cNvPicPr>
            <p:nvPr/>
          </p:nvPicPr>
          <p:blipFill>
            <a:blip r:embed="rId4"/>
            <a:srcRect l="16675" r="16675"/>
            <a:stretch/>
          </p:blipFill>
          <p:spPr>
            <a:xfrm>
              <a:off x="6202100" y="1463040"/>
              <a:ext cx="777240" cy="777240"/>
            </a:xfrm>
            <a:prstGeom prst="ellipse">
              <a:avLst/>
            </a:prstGeom>
          </p:spPr>
        </p:pic>
        <p:sp>
          <p:nvSpPr>
            <p:cNvPr id="13" name="Shape 8"/>
            <p:cNvSpPr/>
            <p:nvPr/>
          </p:nvSpPr>
          <p:spPr>
            <a:xfrm>
              <a:off x="6174668" y="1435608"/>
              <a:ext cx="832104" cy="832104"/>
            </a:xfrm>
            <a:prstGeom prst="ellipse">
              <a:avLst/>
            </a:prstGeom>
            <a:noFill/>
            <a:ln w="19050">
              <a:solidFill>
                <a:srgbClr val="C83C2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9"/>
            <p:cNvSpPr/>
            <p:nvPr/>
          </p:nvSpPr>
          <p:spPr>
            <a:xfrm>
              <a:off x="7116500" y="1508760"/>
              <a:ext cx="17373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F2631"/>
                  </a:solidFill>
                  <a:latin typeface="Playfair Display" pitchFamily="34" charset="0"/>
                  <a:ea typeface="Playfair Display" pitchFamily="34" charset="-122"/>
                  <a:cs typeface="Playfair Display" pitchFamily="34" charset="-120"/>
                </a:rPr>
                <a:t>Ron Kuipers</a:t>
              </a:r>
              <a:endParaRPr lang="en-US" sz="1200" dirty="0"/>
            </a:p>
          </p:txBody>
        </p:sp>
        <p:sp>
          <p:nvSpPr>
            <p:cNvPr id="15" name="Text 10"/>
            <p:cNvSpPr/>
            <p:nvPr/>
          </p:nvSpPr>
          <p:spPr>
            <a:xfrm>
              <a:off x="7116500" y="1874520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kern="0" spc="200" dirty="0">
                  <a:solidFill>
                    <a:srgbClr val="7E929E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President · ICS</a:t>
              </a:r>
              <a:endParaRPr lang="en-US" sz="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0B3A7EC-2F30-54AD-B41A-B7715A2D73EA}"/>
              </a:ext>
            </a:extLst>
          </p:cNvPr>
          <p:cNvGrpSpPr/>
          <p:nvPr/>
        </p:nvGrpSpPr>
        <p:grpSpPr>
          <a:xfrm>
            <a:off x="704088" y="2990088"/>
            <a:ext cx="2679192" cy="832104"/>
            <a:chOff x="704088" y="2990088"/>
            <a:chExt cx="2679192" cy="832104"/>
          </a:xfrm>
        </p:grpSpPr>
        <p:pic>
          <p:nvPicPr>
            <p:cNvPr id="16" name="Image 3" descr="C:\Users\fresh\Documents\GitHub\f2bf\_img_cache\thomas.JPEG"/>
            <p:cNvPicPr>
              <a:picLocks noChangeAspect="1"/>
            </p:cNvPicPr>
            <p:nvPr/>
          </p:nvPicPr>
          <p:blipFill>
            <a:blip r:embed="rId5"/>
            <a:srcRect t="16667" b="16667"/>
            <a:stretch/>
          </p:blipFill>
          <p:spPr>
            <a:xfrm>
              <a:off x="731520" y="3017520"/>
              <a:ext cx="777240" cy="777240"/>
            </a:xfrm>
            <a:prstGeom prst="ellipse">
              <a:avLst/>
            </a:prstGeom>
          </p:spPr>
        </p:pic>
        <p:sp>
          <p:nvSpPr>
            <p:cNvPr id="17" name="Shape 11"/>
            <p:cNvSpPr/>
            <p:nvPr/>
          </p:nvSpPr>
          <p:spPr>
            <a:xfrm>
              <a:off x="704088" y="2990088"/>
              <a:ext cx="832104" cy="832104"/>
            </a:xfrm>
            <a:prstGeom prst="ellipse">
              <a:avLst/>
            </a:prstGeom>
            <a:noFill/>
            <a:ln w="19050">
              <a:solidFill>
                <a:srgbClr val="C83C2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2"/>
            <p:cNvSpPr/>
            <p:nvPr/>
          </p:nvSpPr>
          <p:spPr>
            <a:xfrm>
              <a:off x="1645920" y="3063240"/>
              <a:ext cx="17373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F2631"/>
                  </a:solidFill>
                  <a:latin typeface="Playfair Display" pitchFamily="34" charset="0"/>
                  <a:ea typeface="Playfair Display" pitchFamily="34" charset="-122"/>
                  <a:cs typeface="Playfair Display" pitchFamily="34" charset="-120"/>
                </a:rPr>
                <a:t>Joash P. Thomas</a:t>
              </a:r>
              <a:endParaRPr lang="en-US" sz="1200" dirty="0"/>
            </a:p>
          </p:txBody>
        </p:sp>
        <p:sp>
          <p:nvSpPr>
            <p:cNvPr id="19" name="Text 13"/>
            <p:cNvSpPr/>
            <p:nvPr/>
          </p:nvSpPr>
          <p:spPr>
            <a:xfrm>
              <a:off x="1645920" y="3429000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kern="0" spc="200" dirty="0">
                  <a:solidFill>
                    <a:srgbClr val="7E929E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Public Theologian</a:t>
              </a:r>
              <a:endParaRPr lang="en-US" sz="8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3FD16E-1304-3610-D9D9-92A4EB3F12B4}"/>
              </a:ext>
            </a:extLst>
          </p:cNvPr>
          <p:cNvGrpSpPr/>
          <p:nvPr/>
        </p:nvGrpSpPr>
        <p:grpSpPr>
          <a:xfrm>
            <a:off x="3447288" y="2990088"/>
            <a:ext cx="2679192" cy="832104"/>
            <a:chOff x="3447288" y="2990088"/>
            <a:chExt cx="2679192" cy="832104"/>
          </a:xfrm>
        </p:grpSpPr>
        <p:pic>
          <p:nvPicPr>
            <p:cNvPr id="20" name="Image 4" descr="C:\Users\fresh\Documents\GitHub\f2bf\_img_cache\strauss.jpg"/>
            <p:cNvPicPr>
              <a:picLocks noChangeAspect="1"/>
            </p:cNvPicPr>
            <p:nvPr/>
          </p:nvPicPr>
          <p:blipFill>
            <a:blip r:embed="rId6"/>
            <a:srcRect l="24" r="24"/>
            <a:stretch/>
          </p:blipFill>
          <p:spPr>
            <a:xfrm>
              <a:off x="3474720" y="3017520"/>
              <a:ext cx="777240" cy="777240"/>
            </a:xfrm>
            <a:prstGeom prst="ellipse">
              <a:avLst/>
            </a:prstGeom>
          </p:spPr>
        </p:pic>
        <p:sp>
          <p:nvSpPr>
            <p:cNvPr id="21" name="Shape 14"/>
            <p:cNvSpPr/>
            <p:nvPr/>
          </p:nvSpPr>
          <p:spPr>
            <a:xfrm>
              <a:off x="3447288" y="2990088"/>
              <a:ext cx="832104" cy="832104"/>
            </a:xfrm>
            <a:prstGeom prst="ellipse">
              <a:avLst/>
            </a:prstGeom>
            <a:noFill/>
            <a:ln w="19050">
              <a:solidFill>
                <a:srgbClr val="C83C2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15"/>
            <p:cNvSpPr/>
            <p:nvPr/>
          </p:nvSpPr>
          <p:spPr>
            <a:xfrm>
              <a:off x="4389120" y="3063240"/>
              <a:ext cx="17373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F2631"/>
                  </a:solidFill>
                  <a:latin typeface="Playfair Display" pitchFamily="34" charset="0"/>
                  <a:ea typeface="Playfair Display" pitchFamily="34" charset="-122"/>
                  <a:cs typeface="Playfair Display" pitchFamily="34" charset="-120"/>
                </a:rPr>
                <a:t>Gideon Strauss</a:t>
              </a:r>
              <a:endParaRPr lang="en-US" sz="1200" dirty="0"/>
            </a:p>
          </p:txBody>
        </p:sp>
        <p:sp>
          <p:nvSpPr>
            <p:cNvPr id="23" name="Text 16"/>
            <p:cNvSpPr/>
            <p:nvPr/>
          </p:nvSpPr>
          <p:spPr>
            <a:xfrm>
              <a:off x="4389120" y="3429000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kern="0" spc="200" dirty="0">
                  <a:solidFill>
                    <a:srgbClr val="7E929E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Philosopher · ICS</a:t>
              </a:r>
              <a:endParaRPr lang="en-US" sz="8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6A95A62-6CEC-6AAD-570E-AACC26AD0F70}"/>
              </a:ext>
            </a:extLst>
          </p:cNvPr>
          <p:cNvGrpSpPr/>
          <p:nvPr/>
        </p:nvGrpSpPr>
        <p:grpSpPr>
          <a:xfrm>
            <a:off x="3447288" y="1456509"/>
            <a:ext cx="2679192" cy="832104"/>
            <a:chOff x="6190488" y="2990088"/>
            <a:chExt cx="2679192" cy="832104"/>
          </a:xfrm>
        </p:grpSpPr>
        <p:pic>
          <p:nvPicPr>
            <p:cNvPr id="24" name="Image 5" descr="C:\Users\fresh\Documents\GitHub\f2bf\_img_cache\walsh.jpg"/>
            <p:cNvPicPr>
              <a:picLocks noChangeAspect="1"/>
            </p:cNvPicPr>
            <p:nvPr/>
          </p:nvPicPr>
          <p:blipFill>
            <a:blip r:embed="rId7"/>
            <a:srcRect l="7218" r="7218"/>
            <a:stretch/>
          </p:blipFill>
          <p:spPr>
            <a:xfrm>
              <a:off x="6217920" y="3017520"/>
              <a:ext cx="777240" cy="777240"/>
            </a:xfrm>
            <a:prstGeom prst="ellipse">
              <a:avLst/>
            </a:prstGeom>
          </p:spPr>
        </p:pic>
        <p:sp>
          <p:nvSpPr>
            <p:cNvPr id="25" name="Shape 17"/>
            <p:cNvSpPr/>
            <p:nvPr/>
          </p:nvSpPr>
          <p:spPr>
            <a:xfrm>
              <a:off x="6190488" y="2990088"/>
              <a:ext cx="832104" cy="832104"/>
            </a:xfrm>
            <a:prstGeom prst="ellipse">
              <a:avLst/>
            </a:prstGeom>
            <a:noFill/>
            <a:ln w="19050">
              <a:solidFill>
                <a:srgbClr val="C83C2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18"/>
            <p:cNvSpPr/>
            <p:nvPr/>
          </p:nvSpPr>
          <p:spPr>
            <a:xfrm>
              <a:off x="7132320" y="3063240"/>
              <a:ext cx="17373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F2631"/>
                  </a:solidFill>
                  <a:latin typeface="Playfair Display" pitchFamily="34" charset="0"/>
                  <a:ea typeface="Playfair Display" pitchFamily="34" charset="-122"/>
                  <a:cs typeface="Playfair Display" pitchFamily="34" charset="-120"/>
                </a:rPr>
                <a:t>Brian Walsh</a:t>
              </a:r>
              <a:endParaRPr lang="en-US" sz="1200" dirty="0"/>
            </a:p>
          </p:txBody>
        </p:sp>
        <p:sp>
          <p:nvSpPr>
            <p:cNvPr id="27" name="Text 19"/>
            <p:cNvSpPr/>
            <p:nvPr/>
          </p:nvSpPr>
          <p:spPr>
            <a:xfrm>
              <a:off x="7132320" y="3429000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kern="0" spc="200" dirty="0">
                  <a:solidFill>
                    <a:srgbClr val="7E929E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Theologian &amp; Author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B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JOIN THE MOVEMENT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Embrace Your </a:t>
            </a:r>
            <a:r>
              <a:rPr lang="en-US" sz="3400" b="1" i="1" dirty="0">
                <a:solidFill>
                  <a:srgbClr val="25516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Freedom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 Be Faithful.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457200" cy="32004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D4F5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Join a growing community of Christians who believe that ancient faith can actively engage the pressing issues of our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24688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54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Explore the courses.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977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f2bf.icscanada.edu/f2bf-courses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474720" y="3017520"/>
            <a:ext cx="24688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0" y="3154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Subscribe on Substack.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3977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instituteforchristianstudies.substack.com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217920" y="3017520"/>
            <a:ext cx="24688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0" y="3154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3C2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0080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63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Support the work.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977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icscanada.edu/donate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resh\Documents\GitHub\f2bf\_img_cache\conferencePhoto.jpg"/>
          <p:cNvPicPr>
            <a:picLocks noChangeAspect="1"/>
          </p:cNvPicPr>
          <p:nvPr/>
        </p:nvPicPr>
        <p:blipFill>
          <a:blip r:embed="rId3">
            <a:alphaModFix amt="25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631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2011680" y="731520"/>
            <a:ext cx="5120640" cy="3657600"/>
          </a:xfrm>
          <a:prstGeom prst="rect">
            <a:avLst/>
          </a:prstGeom>
          <a:solidFill>
            <a:srgbClr val="1B3A4B"/>
          </a:solidFill>
          <a:ln/>
          <a:effectLst>
            <a:outerShdw blurRad="254000" dist="508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2377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START HERE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2377440" y="1371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Scan to visit</a:t>
            </a: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Free to be Faithful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237744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Find the next course, resource, or gathering for you.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37744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f2bf.icscanada.edu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394960" y="1280160"/>
            <a:ext cx="1463040" cy="1463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C:\Users\fresh\Documents\GitHub\f2bf\_img_cache\qrCod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112" y="1353312"/>
            <a:ext cx="1316736" cy="13167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500" dirty="0">
                <a:solidFill>
                  <a:srgbClr val="C83C2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 FREEDOM CHRIST HAS SET US FREE.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4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Free</a:t>
            </a:r>
            <a:endParaRPr lang="en-US" sz="4400" dirty="0"/>
          </a:p>
          <a:p>
            <a:pPr marL="0" indent="0" algn="ctr">
              <a:lnSpc>
                <a:spcPct val="85000"/>
              </a:lnSpc>
              <a:buNone/>
            </a:pPr>
            <a:r>
              <a:rPr lang="en-US" sz="4400" i="1" dirty="0">
                <a:solidFill>
                  <a:srgbClr val="D6DDE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 be</a:t>
            </a:r>
            <a:endParaRPr lang="en-US" sz="4400" dirty="0"/>
          </a:p>
          <a:p>
            <a:pPr marL="0" indent="0" algn="ctr">
              <a:lnSpc>
                <a:spcPct val="85000"/>
              </a:lnSpc>
              <a:buNone/>
            </a:pPr>
            <a:r>
              <a:rPr lang="en-US" sz="44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Faithful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114800" y="2834640"/>
            <a:ext cx="914400" cy="32004"/>
          </a:xfrm>
          <a:prstGeom prst="rect">
            <a:avLst/>
          </a:prstGeom>
          <a:solidFill>
            <a:srgbClr val="C83C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7E929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Rooted without becoming rigid. Bold without becoming belligerent.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7E929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Faithful without becoming fearful.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0EBE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f2bf.icscanada.edu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929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59 St. George Street, Toronto, Ontario M5S 2E6  ·  1-888-326-5347  ·  info@icscanada.edu</a:t>
            </a:r>
            <a:endParaRPr lang="en-US" sz="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4B03C0-AB8D-059B-0AFA-029247715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74" y="4516340"/>
            <a:ext cx="2169251" cy="3856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656</Words>
  <Application>Microsoft Office PowerPoint</Application>
  <PresentationFormat>On-screen Show (16:9)</PresentationFormat>
  <Paragraphs>159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Playfair Display</vt:lpstr>
      <vt:lpstr>Source Sans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 to be Faithful — 2025-2026</dc:title>
  <dc:subject>Equipping Christians for Democratic Life</dc:subject>
  <dc:creator>Institute for Christian Studies</dc:creator>
  <cp:lastModifiedBy>Mark Standish</cp:lastModifiedBy>
  <cp:revision>4</cp:revision>
  <dcterms:created xsi:type="dcterms:W3CDTF">2026-05-14T14:45:02Z</dcterms:created>
  <dcterms:modified xsi:type="dcterms:W3CDTF">2026-05-14T15:54:03Z</dcterms:modified>
</cp:coreProperties>
</file>