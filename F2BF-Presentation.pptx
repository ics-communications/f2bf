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69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24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e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heroCover.jpg"/>
          <p:cNvPicPr>
            <a:picLocks noChangeAspect="1"/>
          </p:cNvPicPr>
          <p:nvPr/>
        </p:nvPicPr>
        <p:blipFill>
          <a:blip r:embed="rId3">
            <a:alphaModFix amt="50000"/>
          </a:blip>
          <a:srcRect t="21861" b="2186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63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INSTITUTE FOR CHRISTIAN STUDIES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5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</a:t>
            </a:r>
            <a:endParaRPr lang="en-US" sz="5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5400" i="1" dirty="0">
                <a:solidFill>
                  <a:srgbClr val="D6DDE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 be</a:t>
            </a:r>
            <a:endParaRPr lang="en-US" sz="5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5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548640" cy="36576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Equipping Christians for Democratic Life.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2025 — 2026 SEASON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 freedom Christ has set us free.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 firm, therefore, and do not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submit again to a yoke of slavery.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3520440"/>
            <a:ext cx="457200" cy="32004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GALATIANS 5 :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groupPhoto.jpg"/>
          <p:cNvPicPr>
            <a:picLocks noChangeAspect="1"/>
          </p:cNvPicPr>
          <p:nvPr/>
        </p:nvPicPr>
        <p:blipFill>
          <a:blip r:embed="rId3"/>
          <a:srcRect l="23354" r="23354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F263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MISSION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Finding a</a:t>
            </a:r>
            <a:endParaRPr lang="en-US" sz="3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Better Way.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31520" y="2331720"/>
            <a:ext cx="457200" cy="32004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D4F5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 to be Faithful is a program, a resource, and a community designed to help Christians meet our complex moment. Our courses, events, and community develop believers who are both faithfully Christian and deeply committed to the common good.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06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“For freedom Christ has set us free.”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churchInterior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7205" r="720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63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97280" y="91440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Rooted without becoming rigid.</a:t>
            </a:r>
            <a:endParaRPr lang="en-US" sz="2600" dirty="0"/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Bold without becoming belligerent.</a:t>
            </a:r>
            <a:endParaRPr lang="en-US" sz="2600" dirty="0"/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 without becoming fearful.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840480" y="914400"/>
            <a:ext cx="1463040" cy="27432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40480" y="4160520"/>
            <a:ext cx="1463040" cy="27432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seminarDiscussion.jpg"/>
          <p:cNvPicPr>
            <a:picLocks noChangeAspect="1"/>
          </p:cNvPicPr>
          <p:nvPr/>
        </p:nvPicPr>
        <p:blipFill>
          <a:blip r:embed="rId3"/>
          <a:srcRect l="25020" r="25020"/>
          <a:stretch/>
        </p:blipFill>
        <p:spPr>
          <a:xfrm>
            <a:off x="5303520" y="457200"/>
            <a:ext cx="3383280" cy="422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OFFER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Program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4F5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Six-week online seminars led by world-class scholars, with the option to earn ICS credit toward degree completion.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Courses to foster deeper understanding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Retreats and intensives for all walks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Pathways toward a Master of Worldview Studies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booksStudy.jpg"/>
          <p:cNvPicPr>
            <a:picLocks noChangeAspect="1"/>
          </p:cNvPicPr>
          <p:nvPr/>
        </p:nvPicPr>
        <p:blipFill>
          <a:blip r:embed="rId3"/>
          <a:srcRect l="7576" r="7576"/>
          <a:stretch/>
        </p:blipFill>
        <p:spPr>
          <a:xfrm>
            <a:off x="457200" y="457200"/>
            <a:ext cx="3383280" cy="422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3891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OFFER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8912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Resource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38912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4F5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Curated texts, essays, and dialogues on the issues facing Christians today — gathered, framed, and made shareable.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0" y="2834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Curated texts to dive deeper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expertise from scholars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Enriching dialogues to relive or discover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communityGathering.jpg"/>
          <p:cNvPicPr>
            <a:picLocks noChangeAspect="1"/>
          </p:cNvPicPr>
          <p:nvPr/>
        </p:nvPicPr>
        <p:blipFill>
          <a:blip r:embed="rId3"/>
          <a:srcRect l="23340" r="23340"/>
          <a:stretch/>
        </p:blipFill>
        <p:spPr>
          <a:xfrm>
            <a:off x="5303520" y="457200"/>
            <a:ext cx="3383280" cy="422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OFFER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Community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4F5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events, coalitions, and conversations with welcoming people from every Christian tradition.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events to strengthen coalitions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Timely writing to challenge and inform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51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Welcoming people from every tradition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-2743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C83C2C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YEAR OF FREE TO BE FAITHFUL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we’ve been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D6DDE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since May 2025.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Courses, events, and community — a full season of faithful engagement.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365760"/>
            <a:ext cx="22860" cy="4389120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" y="484632"/>
            <a:ext cx="201168" cy="20116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393192"/>
            <a:ext cx="6858000" cy="502920"/>
          </a:xfrm>
          <a:prstGeom prst="rect">
            <a:avLst/>
          </a:prstGeom>
          <a:solidFill>
            <a:srgbClr val="C83C2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393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EB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 2025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371600" y="557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 to be Faithful Launch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557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Grand Rapids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014984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923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 2025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1600" y="1088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 Interpretation &amp; Sexuality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1088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Keesmaat &amp; Vander Zee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1545336"/>
            <a:ext cx="201168" cy="20116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453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JUL 2025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71600" y="1618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Summer Big Read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1618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Berglund with Du Mez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075688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1984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 2025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Gender, Sexuality, and the Bible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Sylvia Keesmaat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2606040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 2025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Twentieth Century Authoritarianism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Bruce Berglund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136392"/>
            <a:ext cx="201168" cy="20116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3044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 2025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7160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Fall Big Read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3209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Reichel &amp; Du Mez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3666744"/>
            <a:ext cx="201168" cy="20116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3575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OCT 2025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71600" y="3739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Reechanting the World Conference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60120" y="4197096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0" y="4105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OCT 2025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37160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Good, the True, the Beautiful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0" y="4270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Karen Swallow Prior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109728" cy="10972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4709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4754880"/>
            <a:ext cx="109728" cy="10972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11680" y="4709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-2743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C83C2C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1051560" y="548640"/>
            <a:ext cx="22860" cy="3657600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AND WHERE WE’RE GOING.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60120" y="731520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640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0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Reading the Ruins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841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Angela Reitsma Bick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1463040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Christian-Jewish Question Today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Matthew D. Taylor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194560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 2026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71600" y="2304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Evangelical Imagination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Karen Swallow Prior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2926080"/>
            <a:ext cx="201168" cy="20116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2816352"/>
            <a:ext cx="6858000" cy="640080"/>
          </a:xfrm>
          <a:prstGeom prst="rect">
            <a:avLst/>
          </a:prstGeom>
          <a:solidFill>
            <a:srgbClr val="C83C2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EB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 2026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Courageous Faith in a Time of Fear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Toronto · Public Conference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657600"/>
            <a:ext cx="201168" cy="20116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0" y="3566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JUN 2026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37160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Contemplative Life in the Age of Distraction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Jacob Benjamins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109728" cy="109728"/>
          </a:xfrm>
          <a:prstGeom prst="ellipse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709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28800" y="4754880"/>
            <a:ext cx="109728" cy="109728"/>
          </a:xfrm>
          <a:prstGeom prst="ellipse">
            <a:avLst/>
          </a:prstGeom>
          <a:solidFill>
            <a:srgbClr val="F0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11680" y="4709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VOICES OF THE YEAR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people shaping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</a:t>
            </a:r>
            <a:r>
              <a:rPr lang="en-US" sz="2600" b="1" i="1" dirty="0">
                <a:solidFill>
                  <a:srgbClr val="2551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conversation.</a:t>
            </a:r>
            <a:endParaRPr lang="en-US" sz="2600" dirty="0"/>
          </a:p>
        </p:txBody>
      </p:sp>
      <p:pic>
        <p:nvPicPr>
          <p:cNvPr id="4" name="Image 0" descr="C:\Users\fresh\Documents\GitHub\f2bf\_img_cache\keesmaat.jpeg"/>
          <p:cNvPicPr>
            <a:picLocks noChangeAspect="1"/>
          </p:cNvPicPr>
          <p:nvPr/>
        </p:nvPicPr>
        <p:blipFill>
          <a:blip r:embed="rId3"/>
          <a:srcRect t="4633" b="4633"/>
          <a:stretch/>
        </p:blipFill>
        <p:spPr>
          <a:xfrm>
            <a:off x="731520" y="1737360"/>
            <a:ext cx="777240" cy="77724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" y="170992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459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Sylvia Keesmaat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Scholar · Activist</a:t>
            </a:r>
            <a:endParaRPr lang="en-US" sz="1000" dirty="0"/>
          </a:p>
        </p:txBody>
      </p:sp>
      <p:pic>
        <p:nvPicPr>
          <p:cNvPr id="8" name="Image 1" descr="C:\Users\fresh\Documents\GitHub\f2bf\_img_cache\berglund.jpg"/>
          <p:cNvPicPr>
            <a:picLocks noChangeAspect="1"/>
          </p:cNvPicPr>
          <p:nvPr/>
        </p:nvPicPr>
        <p:blipFill>
          <a:blip r:embed="rId4"/>
          <a:srcRect t="11890" b="11890"/>
          <a:stretch/>
        </p:blipFill>
        <p:spPr>
          <a:xfrm>
            <a:off x="3474720" y="1737360"/>
            <a:ext cx="777240" cy="7772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47288" y="170992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891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Bruce Berglund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3891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 · Historian</a:t>
            </a:r>
            <a:endParaRPr lang="en-US" sz="1000" dirty="0"/>
          </a:p>
        </p:txBody>
      </p:sp>
      <p:pic>
        <p:nvPicPr>
          <p:cNvPr id="12" name="Image 2" descr="C:\Users\fresh\Documents\GitHub\f2bf\_img_cache\prior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737360"/>
            <a:ext cx="777240" cy="777240"/>
          </a:xfrm>
          <a:prstGeom prst="ellipse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90488" y="170992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1323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Karen Swallow Prior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1323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 · Bethel Seminary</a:t>
            </a:r>
            <a:endParaRPr lang="en-US" sz="1000" dirty="0"/>
          </a:p>
        </p:txBody>
      </p:sp>
      <p:pic>
        <p:nvPicPr>
          <p:cNvPr id="16" name="Image 3" descr="C:\Users\fresh\Documents\GitHub\f2bf\_img_cache\reichel.jpg"/>
          <p:cNvPicPr>
            <a:picLocks noChangeAspect="1"/>
          </p:cNvPicPr>
          <p:nvPr/>
        </p:nvPicPr>
        <p:blipFill>
          <a:blip r:embed="rId6"/>
          <a:srcRect t="4545" b="4545"/>
          <a:stretch/>
        </p:blipFill>
        <p:spPr>
          <a:xfrm>
            <a:off x="731520" y="3291840"/>
            <a:ext cx="777240" cy="777240"/>
          </a:xfrm>
          <a:prstGeom prst="ellipse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04088" y="326440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64592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Hanna Reichel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6459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Theologian · Princeton</a:t>
            </a:r>
            <a:endParaRPr lang="en-US" sz="1000" dirty="0"/>
          </a:p>
        </p:txBody>
      </p:sp>
      <p:pic>
        <p:nvPicPr>
          <p:cNvPr id="20" name="Image 4" descr="C:\Users\fresh\Documents\GitHub\f2bf\_img_cache\duMez.jpg"/>
          <p:cNvPicPr>
            <a:picLocks noChangeAspect="1"/>
          </p:cNvPicPr>
          <p:nvPr/>
        </p:nvPicPr>
        <p:blipFill>
          <a:blip r:embed="rId7"/>
          <a:srcRect l="16650" r="16650"/>
          <a:stretch/>
        </p:blipFill>
        <p:spPr>
          <a:xfrm>
            <a:off x="3474720" y="3291840"/>
            <a:ext cx="777240" cy="777240"/>
          </a:xfrm>
          <a:prstGeom prst="ellipse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447288" y="326440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38912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Kristin Kobes Du Mez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3891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Historian · Calvin Univ.</a:t>
            </a:r>
            <a:endParaRPr lang="en-US" sz="1000" dirty="0"/>
          </a:p>
        </p:txBody>
      </p:sp>
      <p:pic>
        <p:nvPicPr>
          <p:cNvPr id="24" name="Image 5" descr="C:\Users\fresh\Documents\GitHub\f2bf\_img_cache\reitsma.jpg"/>
          <p:cNvPicPr>
            <a:picLocks noChangeAspect="1"/>
          </p:cNvPicPr>
          <p:nvPr/>
        </p:nvPicPr>
        <p:blipFill>
          <a:blip r:embed="rId8"/>
          <a:srcRect l="16667" r="16667"/>
          <a:stretch/>
        </p:blipFill>
        <p:spPr>
          <a:xfrm>
            <a:off x="6217920" y="3291840"/>
            <a:ext cx="777240" cy="777240"/>
          </a:xfrm>
          <a:prstGeom prst="ellipse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90488" y="326440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713232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Angela Reitsma Bick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1323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Editor · Christian Courier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VOICES OF THE YEAR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Scholars, writers, and pastoral voices guiding our courses and gatherings.</a:t>
            </a:r>
            <a:endParaRPr lang="en-US" sz="1300" dirty="0"/>
          </a:p>
        </p:txBody>
      </p:sp>
      <p:pic>
        <p:nvPicPr>
          <p:cNvPr id="8" name="Image 1" descr="C:\Users\fresh\Documents\GitHub\f2bf\_img_cache\benjamins.jpg"/>
          <p:cNvPicPr>
            <a:picLocks noChangeAspect="1"/>
          </p:cNvPicPr>
          <p:nvPr/>
        </p:nvPicPr>
        <p:blipFill>
          <a:blip r:embed="rId3"/>
          <a:srcRect t="2882" b="2882"/>
          <a:stretch/>
        </p:blipFill>
        <p:spPr>
          <a:xfrm>
            <a:off x="3458900" y="1463040"/>
            <a:ext cx="777240" cy="7772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31468" y="143560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733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Jacob Benjamins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3733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Postdoctoral Fellow · ICS</a:t>
            </a:r>
            <a:endParaRPr lang="en-US" sz="800" dirty="0"/>
          </a:p>
        </p:txBody>
      </p:sp>
      <p:pic>
        <p:nvPicPr>
          <p:cNvPr id="12" name="Image 2" descr="C:\Users\fresh\Documents\GitHub\f2bf\_img_cache\kuipers.jpg"/>
          <p:cNvPicPr>
            <a:picLocks noChangeAspect="1"/>
          </p:cNvPicPr>
          <p:nvPr/>
        </p:nvPicPr>
        <p:blipFill>
          <a:blip r:embed="rId4"/>
          <a:srcRect l="16675" r="16675"/>
          <a:stretch/>
        </p:blipFill>
        <p:spPr>
          <a:xfrm>
            <a:off x="6202100" y="1463040"/>
            <a:ext cx="777240" cy="777240"/>
          </a:xfrm>
          <a:prstGeom prst="ellipse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74668" y="143560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1165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Ron Kuipers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1165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President · ICS</a:t>
            </a:r>
            <a:endParaRPr lang="en-US" sz="800" dirty="0"/>
          </a:p>
        </p:txBody>
      </p:sp>
      <p:pic>
        <p:nvPicPr>
          <p:cNvPr id="16" name="Image 3" descr="C:\Users\fresh\Documents\GitHub\f2bf\_img_cache\thomas.JPEG"/>
          <p:cNvPicPr>
            <a:picLocks noChangeAspect="1"/>
          </p:cNvPicPr>
          <p:nvPr/>
        </p:nvPicPr>
        <p:blipFill>
          <a:blip r:embed="rId5"/>
          <a:srcRect t="16667" b="16667"/>
          <a:stretch/>
        </p:blipFill>
        <p:spPr>
          <a:xfrm>
            <a:off x="731520" y="3017520"/>
            <a:ext cx="777240" cy="777240"/>
          </a:xfrm>
          <a:prstGeom prst="ellipse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04088" y="299008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6459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Joash P. Thomas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6459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Public Theologian</a:t>
            </a:r>
            <a:endParaRPr lang="en-US" sz="800" dirty="0"/>
          </a:p>
        </p:txBody>
      </p:sp>
      <p:pic>
        <p:nvPicPr>
          <p:cNvPr id="20" name="Image 4" descr="C:\Users\fresh\Documents\GitHub\f2bf\_img_cache\strauss.jpg"/>
          <p:cNvPicPr>
            <a:picLocks noChangeAspect="1"/>
          </p:cNvPicPr>
          <p:nvPr/>
        </p:nvPicPr>
        <p:blipFill>
          <a:blip r:embed="rId6"/>
          <a:srcRect l="24" r="24"/>
          <a:stretch/>
        </p:blipFill>
        <p:spPr>
          <a:xfrm>
            <a:off x="3474720" y="3017520"/>
            <a:ext cx="777240" cy="777240"/>
          </a:xfrm>
          <a:prstGeom prst="ellipse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447288" y="299008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3891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Gideon Strauss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3891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Philosopher · ICS</a:t>
            </a:r>
            <a:endParaRPr lang="en-US" sz="800" dirty="0"/>
          </a:p>
        </p:txBody>
      </p:sp>
      <p:pic>
        <p:nvPicPr>
          <p:cNvPr id="24" name="Image 5" descr="C:\Users\fresh\Documents\GitHub\f2bf\_img_cache\walsh.jpg"/>
          <p:cNvPicPr>
            <a:picLocks noChangeAspect="1"/>
          </p:cNvPicPr>
          <p:nvPr/>
        </p:nvPicPr>
        <p:blipFill>
          <a:blip r:embed="rId7"/>
          <a:srcRect l="7218" r="7218"/>
          <a:stretch/>
        </p:blipFill>
        <p:spPr>
          <a:xfrm>
            <a:off x="6217920" y="3017520"/>
            <a:ext cx="777240" cy="777240"/>
          </a:xfrm>
          <a:prstGeom prst="ellipse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90488" y="2990088"/>
            <a:ext cx="832104" cy="832104"/>
          </a:xfrm>
          <a:prstGeom prst="ellipse">
            <a:avLst/>
          </a:prstGeom>
          <a:noFill/>
          <a:ln w="19050">
            <a:solidFill>
              <a:srgbClr val="C83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71323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Brian Walsh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1323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Theologian &amp; Author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 THE MOVEMENT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Embrace Your </a:t>
            </a:r>
            <a:r>
              <a:rPr lang="en-US" sz="3400" b="1" i="1" dirty="0">
                <a:solidFill>
                  <a:srgbClr val="2551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Freedom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 Be Faithful.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32004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4F5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 a growing community of Christians who believe that ancient faith can actively engage the pressing issues of our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Explore the courses.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f2bf.icscanada.edu/f2bf-courses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Subscribe on Substack.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instituteforchristianstudies.substack.com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3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Support the work.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icscanada.edu/donate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resh\Documents\GitHub\f2bf\_img_cache\conferencePhoto.jp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63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011680" y="731520"/>
            <a:ext cx="5120640" cy="3657600"/>
          </a:xfrm>
          <a:prstGeom prst="rect">
            <a:avLst/>
          </a:prstGeom>
          <a:solidFill>
            <a:srgbClr val="1B3A4B"/>
          </a:solidFill>
          <a:ln/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3774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37744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Scan to visit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 to be Faithful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774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the next course, resource, or gathering for you.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774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f2bf.icscanada.edu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94960" y="1280160"/>
            <a:ext cx="146304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C:\Users\fresh\Documents\GitHub\f2bf\_img_cache\qrC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353312"/>
            <a:ext cx="1316736" cy="13167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0" dirty="0">
                <a:solidFill>
                  <a:srgbClr val="C83C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FREEDOM CHRIST HAS SET US FREE.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4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</a:t>
            </a:r>
            <a:endParaRPr lang="en-US" sz="4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4400" i="1" dirty="0">
                <a:solidFill>
                  <a:srgbClr val="D6DDE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 be</a:t>
            </a:r>
            <a:endParaRPr lang="en-US" sz="4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44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834640"/>
            <a:ext cx="914400" cy="32004"/>
          </a:xfrm>
          <a:prstGeom prst="rect">
            <a:avLst/>
          </a:prstGeom>
          <a:solidFill>
            <a:srgbClr val="C83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E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Rooted without becoming rigid. Bold without becoming belligerent.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E929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Faithful without becoming fearful.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EB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f2bf.icscanada.edu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9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59 St. George Street, Toronto, Ontario M5S 2E6  ·  1-888-326-5347  ·  info@icscanada.edu</a:t>
            </a:r>
            <a:endParaRPr lang="en-US" sz="800" dirty="0"/>
          </a:p>
        </p:txBody>
      </p:sp>
      <p:pic>
        <p:nvPicPr>
          <p:cNvPr id="8" name="Image 0" descr="C:\Users\fresh\Documents\GitHub\f2bf\_img_cache\icsLogo.png"/>
          <p:cNvPicPr>
            <a:picLocks noChangeAspect="1"/>
          </p:cNvPicPr>
          <p:nvPr/>
        </p:nvPicPr>
        <p:blipFill>
          <a:blip r:embed="rId3"/>
          <a:srcRect l="17677" r="17677"/>
          <a:stretch/>
        </p:blipFill>
        <p:spPr>
          <a:xfrm>
            <a:off x="3657600" y="4434840"/>
            <a:ext cx="182880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656</Words>
  <Application>Microsoft Office PowerPoint</Application>
  <PresentationFormat>On-screen Show (16:9)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Playfair Display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to be Faithful — 2025-2026</dc:title>
  <dc:subject>Equipping Christians for Democratic Life</dc:subject>
  <dc:creator>Institute for Christian Studies</dc:creator>
  <cp:lastModifiedBy>Mark Standish</cp:lastModifiedBy>
  <cp:revision>2</cp:revision>
  <dcterms:created xsi:type="dcterms:W3CDTF">2026-05-14T14:45:02Z</dcterms:created>
  <dcterms:modified xsi:type="dcterms:W3CDTF">2026-05-14T14:54:43Z</dcterms:modified>
</cp:coreProperties>
</file>